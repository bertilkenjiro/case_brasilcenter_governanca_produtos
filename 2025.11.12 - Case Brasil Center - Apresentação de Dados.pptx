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797"/>
    <a:srgbClr val="EC0A0A"/>
    <a:srgbClr val="37BC7A"/>
    <a:srgbClr val="AFB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31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45DC7-8C7D-EAED-BFFE-73EED1F2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210922-1EE5-6B54-D9B0-D2055DED4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69917-BFA8-4C95-6954-750D45C9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5B9A9D-CC24-FB36-A855-8C8360F7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454E5-7B4A-6941-76A5-465B1138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28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1F39F-FE41-F96C-1E54-82EEFBDC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C629B-F97E-CC59-96F8-F396092C0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EE3857-B159-86EC-C610-2DA32B60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7560E0-49AF-EF3D-7694-CE9DA4B7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EC5AC9-1D19-490F-BF2B-173BC093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416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478FA-F3A6-7585-1871-EBD8956DA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99D97A-C53B-C20B-A502-6467809BD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BE1822-21FD-32D4-4F0B-A73047CA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F0AB9C-D4C0-95D4-6B98-4DCAA164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2D0817-E2D4-1537-580B-F1D373FE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05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60389-9D67-2485-AC33-B5FAD953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777A8B-6B26-68C9-7AB5-6779613A7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FB4B82-3611-ABAF-718F-4C9CCAA8F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606D7A-45BD-7051-D66A-14A42734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3ED015-416B-B27B-A32E-84C01517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F488B4-C171-6A1D-BCFD-98283512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34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7AFCB-EB36-932D-A61D-57974F30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8EF1DA-156B-3587-BB4C-24BAC93D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B791A4-A97E-2418-EF7B-67AE3EA21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D7C5AD-260F-9DAD-ED37-300F91B8C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5D9CD2-5CA9-55B7-AA8D-263A878AD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E724931-1027-0AAA-8371-957A7C50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640E36-4551-04D6-5295-19EF1F85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CDFCA9-E036-C54C-DDCE-7C41727A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36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16A64-9D91-10EC-EF0A-FB77CC40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2830735-5EEC-816F-57F6-07A43A076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712968-1615-8535-8CA5-F94465CA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E25CE0-A893-A0C8-D001-88DD8A27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87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4C4EBC-3095-EC32-3C34-B1A14E04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3F1906-537D-9751-12CF-CD888FDA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ED0A5E-FE12-8FCA-923D-EA8A42CC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48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37533-F001-C61D-FB70-26587AF9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342C49-1321-B636-E1EA-7448831E9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215943-8819-CAB2-5FBE-FB2F8547E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243FC2-E9E1-45DC-7171-0594CBFD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DF3340-1F0C-A3FC-F540-91C2172B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9525C5-0165-C0B9-2D40-32031A5D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49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90266-C0EC-C397-7D61-87AA3DB7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C37F94-A12A-6D47-2C51-8E956DFB5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D9C14E-D115-DEC1-877E-11F0E99AF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FA898A-C3E4-B610-7ECB-5AD9A05AF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D8B2DE-F917-D42F-D1D5-C52B1B6A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A4F4CC-932C-0A1A-8BE4-E74B5493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52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4366E-73C6-A0CD-85D4-2FAADB7E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BF36CD-75E6-7DC7-3F9D-ED0DCAD23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83E02F-C656-9767-8A58-9B6BEAC6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32B92F-30ED-0EAE-B95D-FC409662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8C8F57-2D15-D689-C2EB-C91D4C57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2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004776-AD2F-E7D4-CD46-4FE7FA361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2B9BFD-5565-6BBE-4D7E-1F93BB625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EE6006-4901-D299-F399-693EC658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53E24B-4366-D632-C1CF-940D4CE2E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B9F539-E4AC-83C5-EB99-F3044BF5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62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8480F1-9B57-800E-04A0-2D3BA7E9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11EB8C-A193-6EC3-1A64-0006CCF00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74F297-42C3-1130-ED8D-2DAE28EFB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1C424-B7A7-45DD-94AC-11BA2428FEFE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5AD4B4-F177-A920-10B6-6E93BD43D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1F6227-BA3C-690E-A13C-0CF81EE41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DF1DD-F309-49BD-BB09-769205BE90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359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7842526-8A51-CF51-6A2F-879F902A5633}"/>
              </a:ext>
            </a:extLst>
          </p:cNvPr>
          <p:cNvSpPr txBox="1"/>
          <p:nvPr/>
        </p:nvSpPr>
        <p:spPr>
          <a:xfrm>
            <a:off x="139535" y="1720840"/>
            <a:ext cx="40999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O painel foi desenvolvido para </a:t>
            </a:r>
            <a:r>
              <a:rPr lang="pt-BR" sz="2400" b="1" dirty="0"/>
              <a:t>apoiar a governança de produtos</a:t>
            </a:r>
            <a:r>
              <a:rPr lang="pt-BR" sz="2400" dirty="0"/>
              <a:t>, oferecendo visibilidade sobre vigências, status e preços de ofertas.</a:t>
            </a:r>
          </a:p>
          <a:p>
            <a:endParaRPr lang="pt-BR" sz="2400" dirty="0"/>
          </a:p>
          <a:p>
            <a:r>
              <a:rPr lang="pt-BR" sz="2400" dirty="0"/>
              <a:t>Ele responde </a:t>
            </a:r>
            <a:r>
              <a:rPr lang="pt-BR" sz="2400" b="1" dirty="0"/>
              <a:t>a perguntas operacionais e estratégicas </a:t>
            </a:r>
            <a:r>
              <a:rPr lang="pt-BR" sz="2400" dirty="0"/>
              <a:t>sobre a saúde do portfólio.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526C7D-0214-B162-1E42-F979BE1516DF}"/>
              </a:ext>
            </a:extLst>
          </p:cNvPr>
          <p:cNvSpPr txBox="1"/>
          <p:nvPr/>
        </p:nvSpPr>
        <p:spPr>
          <a:xfrm>
            <a:off x="139535" y="48976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1. Objetivo geral do case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9C000910-B801-7398-F3D8-CF1F9EE97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427" y="37101"/>
            <a:ext cx="2066423" cy="552801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4DA9DF0-940E-4BAF-FE05-DA1C598EEF0A}"/>
              </a:ext>
            </a:extLst>
          </p:cNvPr>
          <p:cNvCxnSpPr/>
          <p:nvPr/>
        </p:nvCxnSpPr>
        <p:spPr>
          <a:xfrm>
            <a:off x="139535" y="534390"/>
            <a:ext cx="11842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7F6801A4-F6E7-3FDD-DE06-BDA6C281B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256" y="1019805"/>
            <a:ext cx="7606344" cy="501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8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1829-B0C5-DA82-1AE3-10C4FC0E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3C4522-B280-4259-453A-6DC95AB994C5}"/>
              </a:ext>
            </a:extLst>
          </p:cNvPr>
          <p:cNvSpPr txBox="1"/>
          <p:nvPr/>
        </p:nvSpPr>
        <p:spPr>
          <a:xfrm>
            <a:off x="139535" y="48976"/>
            <a:ext cx="8244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2. Gestão de vigência e qualidade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9557086-372A-4E8E-2627-337439648499}"/>
              </a:ext>
            </a:extLst>
          </p:cNvPr>
          <p:cNvSpPr txBox="1"/>
          <p:nvPr/>
        </p:nvSpPr>
        <p:spPr>
          <a:xfrm>
            <a:off x="217413" y="1465667"/>
            <a:ext cx="57189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Quantos produtos estão ativos e quantos já expiraram?</a:t>
            </a:r>
          </a:p>
          <a:p>
            <a:r>
              <a:rPr lang="pt-BR" dirty="0"/>
              <a:t>→ Mostra a proporção geral e a necessidade de revisão no sistema.</a:t>
            </a:r>
          </a:p>
          <a:p>
            <a:endParaRPr lang="pt-BR" dirty="0"/>
          </a:p>
          <a:p>
            <a:r>
              <a:rPr lang="pt-BR" b="1" dirty="0"/>
              <a:t>Quais produtos vão expirar nos próximos 7 dias?</a:t>
            </a:r>
          </a:p>
          <a:p>
            <a:r>
              <a:rPr lang="pt-BR" dirty="0"/>
              <a:t>→ Ajuda a equipe a agir preventivamente antes da data de fim de vigência.</a:t>
            </a:r>
          </a:p>
          <a:p>
            <a:endParaRPr lang="pt-BR" dirty="0"/>
          </a:p>
          <a:p>
            <a:r>
              <a:rPr lang="pt-BR" b="1" dirty="0"/>
              <a:t>Quais produtos têm vigência mais longa e estão dentro do prazo de renovação?</a:t>
            </a:r>
          </a:p>
          <a:p>
            <a:r>
              <a:rPr lang="pt-BR" dirty="0"/>
              <a:t>→ Permite priorizar os de curto prazo sem perder o controle dos de longo prazo.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52A16C8-1146-6B48-1CE8-A38EFBEDC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177" y="48976"/>
            <a:ext cx="2066423" cy="552801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341244B-AF2B-3D69-070E-C7EF1C087E20}"/>
              </a:ext>
            </a:extLst>
          </p:cNvPr>
          <p:cNvCxnSpPr/>
          <p:nvPr/>
        </p:nvCxnSpPr>
        <p:spPr>
          <a:xfrm>
            <a:off x="139535" y="534390"/>
            <a:ext cx="11842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vação de Tela 3">
            <a:hlinkClick r:id="" action="ppaction://media"/>
            <a:extLst>
              <a:ext uri="{FF2B5EF4-FFF2-40B4-BE49-F238E27FC236}">
                <a16:creationId xmlns:a16="http://schemas.microsoft.com/office/drawing/2014/main" id="{45BD413D-EDFC-7651-92D6-72D5C39ACA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31132" y="1638328"/>
            <a:ext cx="5843455" cy="379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17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57"/>
    </mc:Choice>
    <mc:Fallback>
      <p:transition spd="slow" advTm="155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5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4B51EF0-67E2-F005-5ACA-92BC28CA7D1C}"/>
              </a:ext>
            </a:extLst>
          </p:cNvPr>
          <p:cNvSpPr txBox="1"/>
          <p:nvPr/>
        </p:nvSpPr>
        <p:spPr>
          <a:xfrm>
            <a:off x="198911" y="1541538"/>
            <a:ext cx="45512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Qual é o preço médio atual dos produtos ativos?</a:t>
            </a:r>
          </a:p>
          <a:p>
            <a:r>
              <a:rPr lang="pt-BR" dirty="0"/>
              <a:t>→ Serve como indicador de posicionamento de mercado e controle de tabelas.</a:t>
            </a:r>
          </a:p>
          <a:p>
            <a:endParaRPr lang="pt-BR" dirty="0"/>
          </a:p>
          <a:p>
            <a:r>
              <a:rPr lang="pt-BR" b="1" dirty="0"/>
              <a:t>Quais são os 5 produtos ativos mais caros?</a:t>
            </a:r>
          </a:p>
          <a:p>
            <a:r>
              <a:rPr lang="pt-BR" dirty="0"/>
              <a:t>→ Facilita o foco em ofertas de maior valor comercial ou risco de erro.</a:t>
            </a:r>
          </a:p>
          <a:p>
            <a:endParaRPr lang="pt-BR" dirty="0"/>
          </a:p>
          <a:p>
            <a:r>
              <a:rPr lang="pt-BR" b="1" dirty="0"/>
              <a:t>Existe alguma relação entre preço e tempo de vigência?</a:t>
            </a:r>
          </a:p>
          <a:p>
            <a:r>
              <a:rPr lang="pt-BR" dirty="0"/>
              <a:t>→ Permite identificar se produtos caros estão com validade curta (risco comercial).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BBFCA8-C2EA-E34B-CF65-F3CD1B28C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297" y="1621696"/>
            <a:ext cx="3581900" cy="11336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E61C139-6113-4026-8D7D-E8A24AC2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844" y="3098088"/>
            <a:ext cx="6583353" cy="136703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7BC09CE-8D5F-D199-7432-416A65E2A290}"/>
              </a:ext>
            </a:extLst>
          </p:cNvPr>
          <p:cNvSpPr txBox="1"/>
          <p:nvPr/>
        </p:nvSpPr>
        <p:spPr>
          <a:xfrm>
            <a:off x="139535" y="48976"/>
            <a:ext cx="8244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3. Análise de preços e rentabilidade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4DCCEF9-ED43-0086-A4D3-BF1A4A2C4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177" y="48976"/>
            <a:ext cx="2066423" cy="552801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22A43CD-F68E-D59E-6B62-B6718191456F}"/>
              </a:ext>
            </a:extLst>
          </p:cNvPr>
          <p:cNvCxnSpPr/>
          <p:nvPr/>
        </p:nvCxnSpPr>
        <p:spPr>
          <a:xfrm>
            <a:off x="139535" y="534390"/>
            <a:ext cx="11842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FB286DD-0EBB-234E-4ABC-E52A513EA999}"/>
              </a:ext>
            </a:extLst>
          </p:cNvPr>
          <p:cNvCxnSpPr/>
          <p:nvPr/>
        </p:nvCxnSpPr>
        <p:spPr>
          <a:xfrm>
            <a:off x="4707194" y="4938486"/>
            <a:ext cx="520985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A0B67C0-EDF0-C759-1DA3-FA70789F178D}"/>
              </a:ext>
            </a:extLst>
          </p:cNvPr>
          <p:cNvCxnSpPr/>
          <p:nvPr/>
        </p:nvCxnSpPr>
        <p:spPr>
          <a:xfrm>
            <a:off x="9931177" y="4452695"/>
            <a:ext cx="0" cy="49030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tângulo 21">
            <a:extLst>
              <a:ext uri="{FF2B5EF4-FFF2-40B4-BE49-F238E27FC236}">
                <a16:creationId xmlns:a16="http://schemas.microsoft.com/office/drawing/2014/main" id="{7BA9FAEB-1701-E89F-7B83-21BB25EE6E5F}"/>
              </a:ext>
            </a:extLst>
          </p:cNvPr>
          <p:cNvSpPr/>
          <p:nvPr/>
        </p:nvSpPr>
        <p:spPr>
          <a:xfrm>
            <a:off x="5244214" y="4177376"/>
            <a:ext cx="6438469" cy="2632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412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9198CC6-E55E-EC0C-FCB9-1972E570DED2}"/>
              </a:ext>
            </a:extLst>
          </p:cNvPr>
          <p:cNvSpPr txBox="1"/>
          <p:nvPr/>
        </p:nvSpPr>
        <p:spPr>
          <a:xfrm>
            <a:off x="291935" y="1305341"/>
            <a:ext cx="59564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r>
              <a:rPr lang="pt-BR" b="1" dirty="0"/>
              <a:t>Qual categoria concentra mais produtos expirados (Combo, Internet, Telefonia, TV)?</a:t>
            </a:r>
          </a:p>
          <a:p>
            <a:r>
              <a:rPr lang="pt-BR" dirty="0"/>
              <a:t>→ Mostra gargalos operacionais ou áreas que precisam de revisão sistêmica.</a:t>
            </a:r>
          </a:p>
          <a:p>
            <a:endParaRPr lang="pt-BR" dirty="0"/>
          </a:p>
          <a:p>
            <a:r>
              <a:rPr lang="pt-BR" b="1" dirty="0"/>
              <a:t>Como o status varia por tipo de oferta (Mensal, Trimestral, etc.)?</a:t>
            </a:r>
          </a:p>
          <a:p>
            <a:r>
              <a:rPr lang="pt-BR" dirty="0"/>
              <a:t>→ Indica se há padrão de expiração em determinados planos ou ciclos comerciais.</a:t>
            </a:r>
          </a:p>
          <a:p>
            <a:endParaRPr lang="pt-BR" dirty="0"/>
          </a:p>
          <a:p>
            <a:r>
              <a:rPr lang="pt-BR" b="1" dirty="0"/>
              <a:t>Existe desequilíbrio entre planos (Residencial, Empresarial, Família, Pessoal)?</a:t>
            </a:r>
          </a:p>
          <a:p>
            <a:r>
              <a:rPr lang="pt-BR" dirty="0"/>
              <a:t>→ Indica onde estão os maiores riscos ou oportunidades de atualização.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D9E8C8-1164-71AE-8676-F000838BB711}"/>
              </a:ext>
            </a:extLst>
          </p:cNvPr>
          <p:cNvSpPr txBox="1"/>
          <p:nvPr/>
        </p:nvSpPr>
        <p:spPr>
          <a:xfrm>
            <a:off x="139535" y="48976"/>
            <a:ext cx="8244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4. Análise por categoria e tipo de oferta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4B85A8-38FC-6A0E-74C4-B6B6A5F2F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177" y="48976"/>
            <a:ext cx="2066423" cy="552801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2C94FAC2-4D2C-F753-4232-BCBC35E87F1E}"/>
              </a:ext>
            </a:extLst>
          </p:cNvPr>
          <p:cNvCxnSpPr/>
          <p:nvPr/>
        </p:nvCxnSpPr>
        <p:spPr>
          <a:xfrm>
            <a:off x="139535" y="534390"/>
            <a:ext cx="11842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479D7EF0-B3A0-C9C4-779E-780F0B1B0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2062642"/>
            <a:ext cx="4797663" cy="308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6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77A50F0-98C4-67C7-119F-42CC1AC9A660}"/>
              </a:ext>
            </a:extLst>
          </p:cNvPr>
          <p:cNvSpPr txBox="1"/>
          <p:nvPr/>
        </p:nvSpPr>
        <p:spPr>
          <a:xfrm>
            <a:off x="270164" y="1781299"/>
            <a:ext cx="65462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Qual é o volume total de produtos controlados e sua distribuição por status?</a:t>
            </a:r>
          </a:p>
          <a:p>
            <a:r>
              <a:rPr lang="pt-BR" dirty="0"/>
              <a:t>→ Mostra a completude e cobertura do controle de produtos.</a:t>
            </a:r>
          </a:p>
          <a:p>
            <a:endParaRPr lang="pt-BR" dirty="0"/>
          </a:p>
          <a:p>
            <a:r>
              <a:rPr lang="pt-BR" b="1" dirty="0"/>
              <a:t>Há alguma inconsistência entre o número de produtos expirados e ativos?</a:t>
            </a:r>
          </a:p>
          <a:p>
            <a:r>
              <a:rPr lang="pt-BR" dirty="0"/>
              <a:t>→ Ajuda a detectar falhas de processo ou atualização de sistema.</a:t>
            </a:r>
          </a:p>
          <a:p>
            <a:endParaRPr lang="pt-BR" dirty="0"/>
          </a:p>
          <a:p>
            <a:r>
              <a:rPr lang="pt-BR" b="1" dirty="0"/>
              <a:t>Como o painel apoia a tomada de decisão diária?</a:t>
            </a:r>
          </a:p>
          <a:p>
            <a:r>
              <a:rPr lang="pt-BR" dirty="0"/>
              <a:t>→ O dashboard permite que o analista ou gestor veja “em um clique” os produtos que precisam de ação imediata.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549294-9352-13D5-C87F-D9216C1B031C}"/>
              </a:ext>
            </a:extLst>
          </p:cNvPr>
          <p:cNvSpPr txBox="1"/>
          <p:nvPr/>
        </p:nvSpPr>
        <p:spPr>
          <a:xfrm>
            <a:off x="139535" y="48976"/>
            <a:ext cx="8244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5. Indicadores de governança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DDD62EA-8F3D-881A-7788-5D93E5A3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177" y="48976"/>
            <a:ext cx="2066423" cy="552801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1B606E28-C226-428C-075C-851F9BF27286}"/>
              </a:ext>
            </a:extLst>
          </p:cNvPr>
          <p:cNvCxnSpPr/>
          <p:nvPr/>
        </p:nvCxnSpPr>
        <p:spPr>
          <a:xfrm>
            <a:off x="139535" y="534390"/>
            <a:ext cx="11842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DD0D0553-45A4-5613-C5E1-CE8444EE6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488" y="1787193"/>
            <a:ext cx="3943900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5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8E5244E-384D-E653-7CC5-16A9F8B87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584" y="4092700"/>
            <a:ext cx="1949316" cy="14835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C2786D3-23A5-15B5-FC61-7D94746F2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965" y="3521789"/>
            <a:ext cx="2144816" cy="73781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61A5A3A-AB1C-B38E-8E46-40E796CE4E90}"/>
              </a:ext>
            </a:extLst>
          </p:cNvPr>
          <p:cNvSpPr/>
          <p:nvPr/>
        </p:nvSpPr>
        <p:spPr>
          <a:xfrm>
            <a:off x="4611584" y="2008579"/>
            <a:ext cx="1179616" cy="807522"/>
          </a:xfrm>
          <a:prstGeom prst="rect">
            <a:avLst/>
          </a:prstGeom>
          <a:solidFill>
            <a:srgbClr val="AFBA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185CC13-8676-383E-9443-D43DB3C21A3E}"/>
              </a:ext>
            </a:extLst>
          </p:cNvPr>
          <p:cNvSpPr/>
          <p:nvPr/>
        </p:nvSpPr>
        <p:spPr>
          <a:xfrm>
            <a:off x="6105212" y="2008562"/>
            <a:ext cx="1179616" cy="807522"/>
          </a:xfrm>
          <a:prstGeom prst="rect">
            <a:avLst/>
          </a:prstGeom>
          <a:solidFill>
            <a:srgbClr val="37B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D82CB6F-B83E-4507-C21E-49F2092CDBC4}"/>
              </a:ext>
            </a:extLst>
          </p:cNvPr>
          <p:cNvSpPr/>
          <p:nvPr/>
        </p:nvSpPr>
        <p:spPr>
          <a:xfrm>
            <a:off x="7598840" y="2008562"/>
            <a:ext cx="1179616" cy="807522"/>
          </a:xfrm>
          <a:prstGeom prst="rect">
            <a:avLst/>
          </a:prstGeom>
          <a:solidFill>
            <a:srgbClr val="125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4C8273D-9E3A-FE61-4F36-BC534E8D4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840" y="3594099"/>
            <a:ext cx="2691860" cy="195286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6A30F4B6-C439-DC9D-A0EE-3397517B4E39}"/>
              </a:ext>
            </a:extLst>
          </p:cNvPr>
          <p:cNvSpPr/>
          <p:nvPr/>
        </p:nvSpPr>
        <p:spPr>
          <a:xfrm>
            <a:off x="9092468" y="2008562"/>
            <a:ext cx="1179616" cy="807522"/>
          </a:xfrm>
          <a:prstGeom prst="rect">
            <a:avLst/>
          </a:prstGeom>
          <a:solidFill>
            <a:srgbClr val="EC0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E525A45-6653-6959-4B6A-B77C26A5B696}"/>
              </a:ext>
            </a:extLst>
          </p:cNvPr>
          <p:cNvSpPr txBox="1"/>
          <p:nvPr/>
        </p:nvSpPr>
        <p:spPr>
          <a:xfrm>
            <a:off x="1070500" y="2160962"/>
            <a:ext cx="2485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Cores da Marca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D15E0A-DE4A-B9B6-105F-2CFC420DC8D1}"/>
              </a:ext>
            </a:extLst>
          </p:cNvPr>
          <p:cNvSpPr txBox="1"/>
          <p:nvPr/>
        </p:nvSpPr>
        <p:spPr>
          <a:xfrm>
            <a:off x="4684450" y="1556699"/>
            <a:ext cx="116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#AFBA40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C8D715E-A1EF-F51B-BA87-3EFE8FF1D404}"/>
              </a:ext>
            </a:extLst>
          </p:cNvPr>
          <p:cNvSpPr txBox="1"/>
          <p:nvPr/>
        </p:nvSpPr>
        <p:spPr>
          <a:xfrm>
            <a:off x="753000" y="4339696"/>
            <a:ext cx="280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Amostra de Design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43C818A-93F1-8DEF-146E-D1A6622B3EB0}"/>
              </a:ext>
            </a:extLst>
          </p:cNvPr>
          <p:cNvSpPr/>
          <p:nvPr/>
        </p:nvSpPr>
        <p:spPr>
          <a:xfrm>
            <a:off x="584200" y="1311040"/>
            <a:ext cx="10537300" cy="2117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201FF41-5FE4-3097-71F8-18FA6A5CA8BC}"/>
              </a:ext>
            </a:extLst>
          </p:cNvPr>
          <p:cNvSpPr/>
          <p:nvPr/>
        </p:nvSpPr>
        <p:spPr>
          <a:xfrm>
            <a:off x="584200" y="3511548"/>
            <a:ext cx="10537300" cy="2117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699257C-AD39-FF0C-A6E5-1DBD388255E1}"/>
              </a:ext>
            </a:extLst>
          </p:cNvPr>
          <p:cNvSpPr txBox="1"/>
          <p:nvPr/>
        </p:nvSpPr>
        <p:spPr>
          <a:xfrm>
            <a:off x="6210300" y="1556699"/>
            <a:ext cx="116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#37BC7A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5149A73-8E21-D978-4FD3-AE8A9C51F8D5}"/>
              </a:ext>
            </a:extLst>
          </p:cNvPr>
          <p:cNvSpPr txBox="1"/>
          <p:nvPr/>
        </p:nvSpPr>
        <p:spPr>
          <a:xfrm>
            <a:off x="7621850" y="1556699"/>
            <a:ext cx="116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#125797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494102B-BA27-0989-C901-7DFDBF5BD7C3}"/>
              </a:ext>
            </a:extLst>
          </p:cNvPr>
          <p:cNvSpPr txBox="1"/>
          <p:nvPr/>
        </p:nvSpPr>
        <p:spPr>
          <a:xfrm>
            <a:off x="9122300" y="1556699"/>
            <a:ext cx="116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#EC0A0A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0420DB5-4C5E-F53F-CE9A-65ADE81C1A1B}"/>
              </a:ext>
            </a:extLst>
          </p:cNvPr>
          <p:cNvSpPr txBox="1"/>
          <p:nvPr/>
        </p:nvSpPr>
        <p:spPr>
          <a:xfrm>
            <a:off x="139535" y="48976"/>
            <a:ext cx="8244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X. Estudo de Design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C315F5FC-C5EA-E041-9320-8E3944646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177" y="48976"/>
            <a:ext cx="2066423" cy="552801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A9C3E677-C57C-110A-1C68-085D681AD2B4}"/>
              </a:ext>
            </a:extLst>
          </p:cNvPr>
          <p:cNvCxnSpPr/>
          <p:nvPr/>
        </p:nvCxnSpPr>
        <p:spPr>
          <a:xfrm>
            <a:off x="139535" y="534390"/>
            <a:ext cx="11842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2537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398</Words>
  <Application>Microsoft Office PowerPoint</Application>
  <PresentationFormat>Widescreen</PresentationFormat>
  <Paragraphs>48</Paragraphs>
  <Slides>6</Slides>
  <Notes>0</Notes>
  <HiddenSlides>1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2025-11-12T09:27:59Z</dcterms:created>
  <dcterms:modified xsi:type="dcterms:W3CDTF">2025-11-12T12:02:33Z</dcterms:modified>
</cp:coreProperties>
</file>